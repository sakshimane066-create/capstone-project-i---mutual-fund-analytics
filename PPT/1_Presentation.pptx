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164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full mutual fund analytics stack built on public AMFI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problems from the brief: fragmentation, performance comparison, benchmark tracking, investor behaviour, slow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NAVs are anchored to real values and investor transactions are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slicers and the drill-through from the scorecard to Fund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data limitations: be open about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Bluestock Fintech | Mutual Fund Analytics Capstone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1"/>
                </a:solidFill>
              </a:rPr>
              <a:t>Educational use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Bluestock Fintech | Mutual Fund Analytics Capstone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Platform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engineering, ETL pipeline and interactive dashboard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94858" y="2800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I  |  Sakshi Mane, Data Analyst Intern  |  October 2026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and the objective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scattered across AMFI reports, APIs and exchange files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NAV needs heavy work before risk-adjusted metrics exist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Investors cannot see if a fund beats its benchmark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reports are static PDFs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built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ETL pipeline: one command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star schema with 10 SQL queries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and risk analytics in Python (5 notebooks)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scorecard, VaR, cohorts, recommender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Four-page interactive Power BI dashboard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and datasets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schemes, 10 fund houses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46,000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060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NAV values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32,778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6634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 transactions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294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208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provided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Sources: AMFI India, mfapi.in, NSE and BSE public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 Jan 2022 to May 2026; AUM, SIP, folios, benchmarks, holdings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are simulated but follow real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AMFI codes validated: 0 unknown codes, 0 duplicates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extract, transform, load, analyse, visualise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81328" cy="1554480"/>
          </a:xfrm>
          <a:prstGeom prst="roundRect">
            <a:avLst>
              <a:gd name="adj" fmla="val 4938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146304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CSVs + mfapi.in live NAV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21408" y="1371600"/>
            <a:ext cx="1481328" cy="1554480"/>
          </a:xfrm>
          <a:prstGeom prst="roundRect">
            <a:avLst>
              <a:gd name="adj" fmla="val 4938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94560" y="146304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validate, forward-fill NAV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85616" y="1371600"/>
            <a:ext cx="1481328" cy="1554480"/>
          </a:xfrm>
          <a:prstGeom prst="roundRect">
            <a:avLst>
              <a:gd name="adj" fmla="val 4938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58768" y="146304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star schema, 8 tables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49824" y="1371600"/>
            <a:ext cx="1481328" cy="1554480"/>
          </a:xfrm>
          <a:prstGeom prst="roundRect">
            <a:avLst>
              <a:gd name="adj" fmla="val 4938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22976" y="146304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Metrics, EDA, risk (Python)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14032" y="1371600"/>
            <a:ext cx="1481328" cy="1554480"/>
          </a:xfrm>
          <a:prstGeom prst="roundRect">
            <a:avLst>
              <a:gd name="adj" fmla="val 4938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87184" y="1463040"/>
            <a:ext cx="1335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BI, 4 pages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everything with: python run_pipeline.py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Logging, error handling, non-zero exit on failure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counts verified against source; 0 foreign-key violations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highlight: industry growth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capfinal/reports/figures/eda_sip_mile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120640" cy="2060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 inflow: Rs 11,517 crore to Rs 31,002 crore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Top-10 AMC AUM: 30.18 to 62.74 lakh crore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Folios: 13.26 to 26.12 crore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SBI is the largest AMC (12.5 lakh crore)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highlight: investors and costs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capfinal/reports/figures/eda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120640" cy="19563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1887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41% of investors are aged 26-35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B30 cities give 34% of investment 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Lumpsum is 58.5% of amount; SIPs are 60% of transactions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plans cost 0.57 points less a year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composite fund scorecard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capfinal/reports/figures/perf_scorecard_to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120640" cy="30258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weights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669280" y="14630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3-year CAGR 30%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25%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20%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Expense ratio 15%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drawdown 10%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66928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Top: Mirae Asset Large Cap Fund (84.8)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risk-adjusted 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16.6%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3-year CAGR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of 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6060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 with Sharpe above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-53%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6634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deepest drawdown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294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20840" y="1719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 vs debt volatility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 descr="/tmp/capfinal/reports/figures/perf_shar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58" y="2286000"/>
            <a:ext cx="4163763" cy="24688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394960" y="23774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returns hide risk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Equity 95% VaR: -1.69% a day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5-year CAGR: history is 4.6 years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and beta not meaningful: NAVs do not track benchmarks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Dashboard: industry and fund performance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shots/final/page1_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114800" cy="2358295"/>
          </a:xfrm>
          <a:prstGeom prst="rect">
            <a:avLst/>
          </a:prstGeom>
        </p:spPr>
      </p:pic>
      <p:pic>
        <p:nvPicPr>
          <p:cNvPr id="4" name="Image 1" descr="/tmp/shots/final/page2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114800" cy="23582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1: Industry Overview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365760" y="39136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cards: Top-10 AMC AUM 62.74 lakh crore, SIP inflow 31K crore, folios 26.12 crore. SBI leads the AUM ranking.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6634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2: Fund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663440" y="39136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vs risk bubbles (size = AUM), sortable scorecard, NAV vs benchmark; slicers for fund house, plan, category, scheme.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Dashboard: investors and SIP trends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tmp/shots/final/page3_inve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114800" cy="2358295"/>
          </a:xfrm>
          <a:prstGeom prst="rect">
            <a:avLst/>
          </a:prstGeom>
        </p:spPr>
      </p:pic>
      <p:pic>
        <p:nvPicPr>
          <p:cNvPr id="4" name="Image 1" descr="/tmp/shots/final/page4_sip_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114800" cy="23582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3: Investor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365760" y="39136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Lumpsum 58.5% of amount, redemptions 35.3%, SIP 6.2%. Average SIP is about Rs 11K and highest for ages 56+.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6634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4: SIP and Market Trends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663440" y="39136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heat map (Liquid dominates FY25 inflows), top 5 categories, SIP accounts up 10.0% year on year.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is broad: AUM doubled, SIP inflow nearly tripled in four years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matters: Direct plans are 0.57 points cheaper per year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10 of 40 schemes have a Sharpe ratio above 1; 9 are below 0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 continuity is the main retention risk: 137 investors have the longest gaps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equity schemes are sector-concentrated (HHI above 2,500)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 a finding: NAVs do not track benchmarks; reported and calculated metrics differ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B2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Sakshi Mane  |  Code, data and report: see the GitHub repository (README.md)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stock">
  <a:themeElements>
    <a:clrScheme name="Bluestock">
      <a:dk1>
        <a:srgbClr val="1F2A44"/>
      </a:dk1>
      <a:lt1>
        <a:srgbClr val="FFFFFF"/>
      </a:lt1>
      <a:dk2>
        <a:srgbClr val="1F4E79"/>
      </a:dk2>
      <a:lt2>
        <a:srgbClr val="F4F7FB"/>
      </a:lt2>
      <a:accent1>
        <a:srgbClr val="1F4E79"/>
      </a:accent1>
      <a:accent2>
        <a:srgbClr val="C55A11"/>
      </a:accent2>
      <a:accent3>
        <a:srgbClr val="2E8B57"/>
      </a:accent3>
      <a:accent4>
        <a:srgbClr val="E1B12C"/>
      </a:accent4>
      <a:accent5>
        <a:srgbClr val="7B5EA7"/>
      </a:accent5>
      <a:accent6>
        <a:srgbClr val="2A9DB5"/>
      </a:accent6>
      <a:hlink>
        <a:srgbClr val="1F4E79"/>
      </a:hlink>
      <a:folHlink>
        <a:srgbClr val="7B5EA7"/>
      </a:folHlink>
    </a:clrScheme>
    <a:fontScheme name="Bluesto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768</Words>
  <Application>Microsoft Office PowerPoint</Application>
  <PresentationFormat>On-screen Show (16:9)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Bluestock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Sakshi Mane</dc:creator>
  <cp:lastModifiedBy>Sakshi Mane</cp:lastModifiedBy>
  <cp:revision>3</cp:revision>
  <dcterms:created xsi:type="dcterms:W3CDTF">2026-10-26T10:33:59Z</dcterms:created>
  <dcterms:modified xsi:type="dcterms:W3CDTF">2026-10-26T11:04:41Z</dcterms:modified>
</cp:coreProperties>
</file>